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İlk ve en önemli karar: Eğitim mi inference mı? B200/B300 8'li takım olarak satılır, bu bütçeyi ciddi etkiler. Pre-training (sıfırdan) en ağır senaryo — yalnızca kendi temel modelini eğiten kurumlar içindir. Full fine-tune tüm parametreleri günceller, H200 sınıfı çoklu-GPU ister. Fine-tune (LoRA/QLoRA) için tekli GPU'lar (L40S, RTX PRO 6000, H200) yeterli. Inference için düşük trafikte H200, yüksek trafikte B200 takım gerekli.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2E8F0"/>
                </a:solidFill>
                <a:latin typeface="Calibri"/>
              </a:defRPr>
            </a:pPr>
            <a:r>
              <a:t>İlk Karar: Eğitim mi? Inference mı?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Calibri"/>
              </a:defRPr>
            </a:pPr>
            <a:r>
              <a:t>Donanım ihtiyacını belirleyen en önemli soru</a:t>
            </a:r>
          </a:p>
        </p:txBody>
      </p:sp>
      <p:sp>
        <p:nvSpPr>
          <p:cNvPr id="4" name="Diamond 3"/>
          <p:cNvSpPr/>
          <p:nvPr/>
        </p:nvSpPr>
        <p:spPr>
          <a:xfrm>
            <a:off x="4449470" y="1645920"/>
            <a:ext cx="3291840" cy="128016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9"/>
                </a:solidFill>
                <a:latin typeface="Calibri"/>
              </a:defRPr>
            </a:pPr>
            <a:r>
              <a:t>Eğitim yapılacak mı?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474720"/>
            <a:ext cx="18288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EVET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474720"/>
            <a:ext cx="18288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HAYIR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57200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2E8F0"/>
                </a:solidFill>
                <a:latin typeface="Calibri"/>
              </a:defRPr>
            </a:pPr>
            <a:r>
              <a:t>Pre-training (sıfırdan)</a:t>
            </a:r>
            <a:br/>
            <a:r>
              <a:t>8-32x B200/B300 (1-4 takım)</a:t>
            </a:r>
            <a:br/>
            <a:r>
              <a:t>Çok Yüksek VRAM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57200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2E8F0"/>
                </a:solidFill>
                <a:latin typeface="Calibri"/>
              </a:defRPr>
            </a:pPr>
            <a:r>
              <a:t>Full Fine-tune</a:t>
            </a:r>
            <a:br/>
            <a:r>
              <a:t>1-8x H200 (ZeRO-3)</a:t>
            </a:r>
            <a:br/>
            <a:r>
              <a:t>Yüksek VRAM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57200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2E8F0"/>
                </a:solidFill>
                <a:latin typeface="Calibri"/>
              </a:defRPr>
            </a:pPr>
            <a:r>
              <a:t>Fine-tune (LoRA/QLoRA)</a:t>
            </a:r>
            <a:br/>
            <a:r>
              <a:t>1x L40S / RTX PRO 6000 / H200</a:t>
            </a:r>
            <a:br/>
            <a:r>
              <a:t>Orta/Düşük VRAM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4572000"/>
            <a:ext cx="27432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2E8F0"/>
                </a:solidFill>
                <a:latin typeface="Calibri"/>
              </a:defRPr>
            </a:pPr>
            <a:r>
              <a:t>Inference</a:t>
            </a:r>
            <a:br/>
            <a:r>
              <a:t>1x H200 / 8x B200 (takım)</a:t>
            </a:r>
            <a:br/>
            <a:r>
              <a:t>KV cache → ek VRAM kritik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572000" y="2926080"/>
            <a:ext cx="608990" cy="54864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09790" y="2926080"/>
            <a:ext cx="3505810" cy="54864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600200" y="4023360"/>
            <a:ext cx="2514600" cy="54864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526280" y="4023360"/>
            <a:ext cx="45720" cy="54864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4023360"/>
            <a:ext cx="2423160" cy="54864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515600" y="4023360"/>
            <a:ext cx="0" cy="54864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